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研究方法：RBSA 滚动回归分析框架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594360"/>
            <a:ext cx="2194560" cy="4361688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594360"/>
            <a:ext cx="2194560" cy="320040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594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回归参数设置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" y="105156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回归基准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2608" y="123444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6"/>
                </a:solidFill>
              </a:rPr>
              <a:t>国证成长 / 国证价值 / GC007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508760"/>
            <a:ext cx="19385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59105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滚动窗口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177393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6"/>
                </a:solidFill>
              </a:rPr>
              <a:t>52 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2048256"/>
            <a:ext cx="19385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13055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基金最短历史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" y="231343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6"/>
                </a:solidFill>
              </a:rPr>
              <a:t>104 周（2 年）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2587752"/>
            <a:ext cx="19385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67004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分组步长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" y="285292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6"/>
                </a:solidFill>
              </a:rPr>
              <a:t>每 4 周一期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3127248"/>
            <a:ext cx="19385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209544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日期范围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339242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6"/>
                </a:solidFill>
              </a:rPr>
              <a:t>2011.03 — 2026.02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3666744"/>
            <a:ext cx="19385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74904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R² 最低门槛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" y="393192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6"/>
                </a:solidFill>
              </a:rPr>
              <a:t>≥ 0.70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4206240"/>
            <a:ext cx="19385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28853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有效基金数量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2608" y="4471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6"/>
                </a:solidFill>
              </a:rPr>
              <a:t>710 只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14600" y="640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① 分组逻辑与风格踩对判断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987552"/>
            <a:ext cx="1371600" cy="3383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37560" y="987552"/>
            <a:ext cx="137160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基金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23360" y="1325880"/>
            <a:ext cx="0" cy="237744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1563624"/>
            <a:ext cx="137160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1563624"/>
            <a:ext cx="13716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6"/>
                </a:solidFill>
              </a:rPr>
              <a:t>R² ≥ 0.70 筛选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23360" y="1901952"/>
            <a:ext cx="0" cy="237744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2139696"/>
            <a:ext cx="1371600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139696"/>
            <a:ext cx="13716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6"/>
                </a:solidFill>
              </a:rPr>
              <a:t>净成长暴露
</a:t>
            </a:r>
            <a:pPr algn="ctr" indent="0" marL="0">
              <a:buNone/>
            </a:pPr>
            <a:r>
              <a:rPr lang="en-US" sz="850" dirty="0">
                <a:solidFill>
                  <a:srgbClr val="1E2936"/>
                </a:solidFill>
              </a:rPr>
              <a:t>= w_growth − w_value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023360" y="2560320"/>
            <a:ext cx="0" cy="164592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95828" y="2724912"/>
            <a:ext cx="1655064" cy="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95828" y="2724912"/>
            <a:ext cx="0" cy="164592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50892" y="2724912"/>
            <a:ext cx="0" cy="164592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75788" y="2560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7D6D"/>
                </a:solidFill>
              </a:rPr>
              <a:t>前 1/3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30852" y="2560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C4A64"/>
                </a:solidFill>
              </a:rPr>
              <a:t>后 1/3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24328" y="2889504"/>
            <a:ext cx="1143000" cy="338328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24328" y="2889504"/>
            <a:ext cx="114300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成长偏向组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79392" y="2889504"/>
            <a:ext cx="1143000" cy="338328"/>
          </a:xfrm>
          <a:prstGeom prst="rect">
            <a:avLst/>
          </a:prstGeom>
          <a:solidFill>
            <a:srgbClr val="8C4A64"/>
          </a:solidFill>
          <a:ln w="12700">
            <a:solidFill>
              <a:srgbClr val="8C4A6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279392" y="2889504"/>
            <a:ext cx="114300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价值偏向组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95828" y="3227832"/>
            <a:ext cx="0" cy="13716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50892" y="3227832"/>
            <a:ext cx="0" cy="13716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95828" y="3364992"/>
            <a:ext cx="1655064" cy="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3364992"/>
            <a:ext cx="0" cy="13716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0" y="3502152"/>
            <a:ext cx="164592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3502152"/>
            <a:ext cx="16459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6"/>
                </a:solidFill>
              </a:rPr>
              <a:t>估计日后 4 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6"/>
                </a:solidFill>
              </a:rPr>
              <a:t>成长 vs 价值收益比较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023360" y="3904488"/>
            <a:ext cx="0" cy="128016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18688" y="4032504"/>
            <a:ext cx="1609344" cy="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18688" y="4032504"/>
            <a:ext cx="0" cy="128016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28032" y="4032504"/>
            <a:ext cx="0" cy="128016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15768" y="4160520"/>
            <a:ext cx="1005840" cy="338328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715768" y="416052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踩对组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325112" y="4160520"/>
            <a:ext cx="1005840" cy="338328"/>
          </a:xfrm>
          <a:prstGeom prst="rect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325112" y="416052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踩错组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687568" y="64008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② 稳定基金识别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890004" y="987552"/>
            <a:ext cx="868680" cy="3383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890004" y="987552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基金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324344" y="1325880"/>
            <a:ext cx="0" cy="18288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19672" y="1508760"/>
            <a:ext cx="1609344" cy="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19672" y="1508760"/>
            <a:ext cx="0" cy="18288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29016" y="1508760"/>
            <a:ext cx="0" cy="182880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24728" y="1691640"/>
            <a:ext cx="138988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24728" y="1691640"/>
            <a:ext cx="138988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6"/>
                </a:solidFill>
              </a:rPr>
              <a:t>被选入任意分组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6"/>
                </a:solidFill>
              </a:rPr>
              <a:t>次数 ≥ 25 次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34072" y="1636776"/>
            <a:ext cx="1389888" cy="56692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34072" y="1636776"/>
            <a:ext cx="138988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6"/>
                </a:solidFill>
              </a:rPr>
              <a:t>平均绝对净暴露 ≥ P60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6"/>
                </a:solidFill>
              </a:rPr>
              <a:t>且 P90−P10 波幅 ≥ P75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519672" y="2148840"/>
            <a:ext cx="0" cy="402336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29016" y="2203704"/>
            <a:ext cx="0" cy="347472"/>
          </a:xfrm>
          <a:prstGeom prst="line">
            <a:avLst/>
          </a:prstGeom>
          <a:noFill/>
          <a:ln w="15240">
            <a:solidFill>
              <a:srgbClr val="9AA5B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24728" y="2551176"/>
            <a:ext cx="1389888" cy="4023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824728" y="2551176"/>
            <a:ext cx="138988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稳定上榜基金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434072" y="2551176"/>
            <a:ext cx="1389888" cy="402336"/>
          </a:xfrm>
          <a:prstGeom prst="rect">
            <a:avLst/>
          </a:prstGeom>
          <a:solidFill>
            <a:srgbClr val="6F5AA7"/>
          </a:solidFill>
          <a:ln w="12700">
            <a:solidFill>
              <a:srgbClr val="6F5AA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7434072" y="2551176"/>
            <a:ext cx="138988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动态风格基金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824728" y="300837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345 只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434072" y="300837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12 只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687568" y="3273552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C08A2A"/>
                </a:solidFill>
              </a:rPr>
              <a:t>稳定上榜</a:t>
            </a:r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：全样本中被选入成长或价值偏向组的累计次数 ≥ 25 次。
</a:t>
            </a:r>
            <a:pPr indent="0" marL="0">
              <a:buNone/>
            </a:pPr>
            <a:r>
              <a:rPr lang="en-US" sz="750" b="1" dirty="0">
                <a:solidFill>
                  <a:srgbClr val="6F5AA7"/>
                </a:solidFill>
              </a:rPr>
              <a:t>动态风格</a:t>
            </a:r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：在稳定上榜基金中，平均绝对净暴露 ≥ P60 且 P90−P10 波幅 ≥ P75。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559552" y="640080"/>
            <a:ext cx="0" cy="42976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2026-06-07T16:56:29Z</dcterms:created>
  <dcterms:modified xsi:type="dcterms:W3CDTF">2026-06-07T16:56:29Z</dcterms:modified>
</cp:coreProperties>
</file>